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1D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D7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DECK · 2026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161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338328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61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 time. Protect cash.</a:t>
            </a:r>
            <a:endParaRPr lang="en-US" sz="2800" dirty="0"/>
          </a:p>
          <a:p>
            <a:pPr indent="0" marL="0">
              <a:buNone/>
            </a:pPr>
            <a:r>
              <a:rPr lang="en-US" sz="2800" dirty="0">
                <a:solidFill>
                  <a:srgbClr val="161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without adding headcount.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47548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A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AI operating team measured in savings — hours returned and dollars protected.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11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CE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D7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tools quietly burn money every week.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474720" cy="2926080"/>
          </a:xfrm>
          <a:prstGeom prst="roundRect">
            <a:avLst>
              <a:gd name="adj" fmla="val 3125"/>
            </a:avLst>
          </a:prstGeom>
          <a:solidFill>
            <a:srgbClr val="EDE6D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4688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6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 hrs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68680" y="356616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per manager / week hunting context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389120" y="2194560"/>
            <a:ext cx="3474720" cy="2926080"/>
          </a:xfrm>
          <a:prstGeom prst="roundRect">
            <a:avLst>
              <a:gd name="adj" fmla="val 3125"/>
            </a:avLst>
          </a:prstGeom>
          <a:solidFill>
            <a:srgbClr val="EDE6DB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24688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6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$28k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617720" y="356616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loaded cost of that lost time (~$75/hr)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38160" y="2194560"/>
            <a:ext cx="3474720" cy="2926080"/>
          </a:xfrm>
          <a:prstGeom prst="roundRect">
            <a:avLst>
              <a:gd name="adj" fmla="val 3125"/>
            </a:avLst>
          </a:prstGeom>
          <a:solidFill>
            <a:srgbClr val="EDE6DB"/>
          </a:solidFill>
          <a:ln/>
        </p:spPr>
      </p:sp>
      <p:sp>
        <p:nvSpPr>
          <p:cNvPr id="12" name="Text 10"/>
          <p:cNvSpPr/>
          <p:nvPr/>
        </p:nvSpPr>
        <p:spPr>
          <a:xfrm>
            <a:off x="8366760" y="2468880"/>
            <a:ext cx="3017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6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$85k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366760" y="356616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A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of hiring one junior analyst to paper over the gap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51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6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INSIGHT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058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E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come from a team,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2E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 chatbot.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6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47548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9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 entry point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74720" y="38404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6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474720" y="47548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9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persistent specialists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309360" y="38404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6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40%+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309360" y="47548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9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cross-team decisions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0" y="3840480"/>
            <a:ext cx="25603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6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9144000" y="475488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9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money moves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11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CE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D7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agents. One shared brain.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EDE6D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57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Atlas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2834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Turns findings into decisions.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EDE6DB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2057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Ledger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17720" y="2468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617720" y="2834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Cash, margins, anomalies.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182880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EDE6DB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20574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Scout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366760" y="24688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366760" y="2834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&amp; dormant accounts.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84048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EDE6DB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069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68680" y="44805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48463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Campaigns from real segments.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89120" y="384048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EDE6DB"/>
          </a:solidFill>
          <a:ln/>
        </p:spPr>
      </p:sp>
      <p:sp>
        <p:nvSpPr>
          <p:cNvPr id="22" name="Text 20"/>
          <p:cNvSpPr/>
          <p:nvPr/>
        </p:nvSpPr>
        <p:spPr>
          <a:xfrm>
            <a:off x="4617720" y="4069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Relay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4617720" y="44805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17720" y="48463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Inventory &amp; delivery risk.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138160" y="3840480"/>
            <a:ext cx="3474720" cy="1737360"/>
          </a:xfrm>
          <a:prstGeom prst="roundRect">
            <a:avLst>
              <a:gd name="adj" fmla="val 5263"/>
            </a:avLst>
          </a:prstGeom>
          <a:solidFill>
            <a:srgbClr val="EDE6DB"/>
          </a:solidFill>
          <a:ln/>
        </p:spPr>
      </p:sp>
      <p:sp>
        <p:nvSpPr>
          <p:cNvPr id="26" name="Text 24"/>
          <p:cNvSpPr/>
          <p:nvPr/>
        </p:nvSpPr>
        <p:spPr>
          <a:xfrm>
            <a:off x="8366760" y="4069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1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366760" y="44805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6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366760" y="484632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&amp; competitor signal.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11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CE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D7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MODEL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the dollars come back.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3474720" cy="2377440"/>
          </a:xfrm>
          <a:prstGeom prst="roundRect">
            <a:avLst>
              <a:gd name="adj" fmla="val 3846"/>
            </a:avLst>
          </a:prstGeom>
          <a:solidFill>
            <a:srgbClr val="EDE6D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6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~$16k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68680" y="2743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recovered / year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32004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hrs/month × $75 loaded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89120" y="1737360"/>
            <a:ext cx="3474720" cy="2377440"/>
          </a:xfrm>
          <a:prstGeom prst="roundRect">
            <a:avLst>
              <a:gd name="adj" fmla="val 3846"/>
            </a:avLst>
          </a:prstGeom>
          <a:solidFill>
            <a:srgbClr val="EDE6DB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19659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6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~$78k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617720" y="2743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Hire avoided / year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17720" y="32004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capacity without headcount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138160" y="1737360"/>
            <a:ext cx="3474720" cy="2377440"/>
          </a:xfrm>
          <a:prstGeom prst="roundRect">
            <a:avLst>
              <a:gd name="adj" fmla="val 3846"/>
            </a:avLst>
          </a:prstGeom>
          <a:solidFill>
            <a:srgbClr val="EDE6DB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1965960"/>
            <a:ext cx="3017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6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days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8366760" y="274320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61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cash cycle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66760" y="32004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DSO 35→28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4389120"/>
            <a:ext cx="5394960" cy="1463040"/>
          </a:xfrm>
          <a:prstGeom prst="roundRect">
            <a:avLst>
              <a:gd name="adj" fmla="val 6250"/>
            </a:avLst>
          </a:prstGeom>
          <a:solidFill>
            <a:srgbClr val="EDE6DB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57200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6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$1.3k+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868680" y="516636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labor value from ~30 min/day saved per manager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263640" y="4389120"/>
            <a:ext cx="5303520" cy="1463040"/>
          </a:xfrm>
          <a:prstGeom prst="roundRect">
            <a:avLst>
              <a:gd name="adj" fmla="val 6250"/>
            </a:avLst>
          </a:prstGeom>
          <a:solidFill>
            <a:srgbClr val="EDE6DB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4572000"/>
            <a:ext cx="4846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6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12×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492240" y="51663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A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first-month savings multiple vs. coordination effort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11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51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6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&amp; REVENUE IMPACT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E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 what’s already yours.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474720" cy="2743200"/>
          </a:xfrm>
          <a:prstGeom prst="roundRect">
            <a:avLst>
              <a:gd name="adj" fmla="val 3333"/>
            </a:avLst>
          </a:prstGeom>
          <a:solidFill>
            <a:srgbClr val="22201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860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6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68680" y="320040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9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profit recovery when cash + dormant sales actions run together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89120" y="2011680"/>
            <a:ext cx="3474720" cy="2743200"/>
          </a:xfrm>
          <a:prstGeom prst="roundRect">
            <a:avLst>
              <a:gd name="adj" fmla="val 3333"/>
            </a:avLst>
          </a:prstGeom>
          <a:solidFill>
            <a:srgbClr val="22201C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22860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6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 days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617720" y="320040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9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overdue age NOVA surfaces before write-off risk grows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38160" y="2011680"/>
            <a:ext cx="3474720" cy="2743200"/>
          </a:xfrm>
          <a:prstGeom prst="roundRect">
            <a:avLst>
              <a:gd name="adj" fmla="val 3333"/>
            </a:avLst>
          </a:prstGeom>
          <a:solidFill>
            <a:srgbClr val="22201C"/>
          </a:solidFill>
          <a:ln/>
        </p:spPr>
      </p:sp>
      <p:sp>
        <p:nvSpPr>
          <p:cNvPr id="12" name="Text 10"/>
          <p:cNvSpPr/>
          <p:nvPr/>
        </p:nvSpPr>
        <p:spPr>
          <a:xfrm>
            <a:off x="8366760" y="228600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6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2–3×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8366760" y="3200400"/>
            <a:ext cx="3017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9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exception detection vs weekly spreadsheet reviews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11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CE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D7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SAVINGS BY COMPANY SIZE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altitude. Same kind of win.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72800" cy="3200400"/>
        </p:xfrm>
        <a:graphic>
          <a:graphicData uri="http://schemas.openxmlformats.org/drawingml/2006/table">
            <a:tbl>
              <a:tblPr/>
              <a:tblGrid>
                <a:gridCol w="2011680"/>
                <a:gridCol w="3108960"/>
                <a:gridCol w="3291840"/>
                <a:gridCol w="2560320"/>
              </a:tblGrid>
              <a:tr h="800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6D73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Segment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4CD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6D73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Primary leak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4CD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6D73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What NOVA returns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4CD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6D735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Illustrative annual save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4CD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15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Small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4CD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15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 context-switching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4CD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15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Hours + fewer fire drills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4CD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15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$12k–$25k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4CD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15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4CD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15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Department handoff tax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4CD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15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Faster decisions + less rework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4CD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15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$40k–$90k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4CD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15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4CD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15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Multi-site blind spots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4CD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15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Earlier exceptions + routed actions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4CD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6151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$150k–$400k+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D4CD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943600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Ranges combine labor recovery + avoided coordination overhead.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11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CE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D7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SAVINGS HAPPEN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1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Ask once. Get a coordinated answer.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1737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1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Intake — plain-language question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37744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63040" y="23774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1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— right agents activated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3017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1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Investigate — shared memory + tools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365760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36576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1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Synthesize — Atlas packages the decision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4297680"/>
            <a:ext cx="73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42976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61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— humans approve next steps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589520" y="1828800"/>
            <a:ext cx="3931920" cy="3657600"/>
          </a:xfrm>
          <a:prstGeom prst="roundRect">
            <a:avLst>
              <a:gd name="adj" fmla="val 2500"/>
            </a:avLst>
          </a:prstGeom>
          <a:solidFill>
            <a:srgbClr val="EDE6DB"/>
          </a:solidFill>
          <a:ln/>
        </p:spPr>
      </p:sp>
      <p:sp>
        <p:nvSpPr>
          <p:cNvPr id="16" name="Text 14"/>
          <p:cNvSpPr/>
          <p:nvPr/>
        </p:nvSpPr>
        <p:spPr>
          <a:xfrm>
            <a:off x="7818120" y="22860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6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90s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7818120" y="31089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first multi-agent briefing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818120" y="393192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6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4–6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7818120" y="46634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on a typical cross-functional query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11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51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6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COMPARED TO THE ALTERNATIVE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2E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vs hiring your way out.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20240"/>
            <a:ext cx="5303520" cy="2194560"/>
          </a:xfrm>
          <a:prstGeom prst="roundRect">
            <a:avLst>
              <a:gd name="adj" fmla="val 4167"/>
            </a:avLst>
          </a:prstGeom>
          <a:solidFill>
            <a:srgbClr val="22201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9456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6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$85k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68680" y="31089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9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junior analyst / year — still needs coordination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1920240"/>
            <a:ext cx="5303520" cy="2194560"/>
          </a:xfrm>
          <a:prstGeom prst="roundRect">
            <a:avLst>
              <a:gd name="adj" fmla="val 4167"/>
            </a:avLst>
          </a:prstGeom>
          <a:solidFill>
            <a:srgbClr val="22201C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2194560"/>
            <a:ext cx="4846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6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~$16k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6446520" y="3108960"/>
            <a:ext cx="4846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9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recovery alone from NOVA — before cash &amp; revenue wins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5720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6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5×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" y="52120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9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cheaper than adding analyst capacity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89120" y="45720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6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389120" y="52120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9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value — not a hiring cycle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38160" y="457200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6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8138160" y="521208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9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approvals stay with your people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11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ECE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D73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IT’S FOR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61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tables to large floors.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828800"/>
            <a:ext cx="3474720" cy="3474720"/>
          </a:xfrm>
          <a:prstGeom prst="roundRect">
            <a:avLst>
              <a:gd name="adj" fmla="val 2632"/>
            </a:avLst>
          </a:prstGeom>
          <a:solidFill>
            <a:srgbClr val="EDE6D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031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68680" y="2834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Owner-operators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68680" y="338328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full team’s clarity without adding headcount. Biggest win: hours + fewer surprises.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3474720" cy="3474720"/>
          </a:xfrm>
          <a:prstGeom prst="roundRect">
            <a:avLst>
              <a:gd name="adj" fmla="val 2632"/>
            </a:avLst>
          </a:prstGeom>
          <a:solidFill>
            <a:srgbClr val="EDE6DB"/>
          </a:solidFill>
          <a:ln/>
        </p:spPr>
      </p:sp>
      <p:sp>
        <p:nvSpPr>
          <p:cNvPr id="10" name="Text 8"/>
          <p:cNvSpPr/>
          <p:nvPr/>
        </p:nvSpPr>
        <p:spPr>
          <a:xfrm>
            <a:off x="4617720" y="21031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617720" y="2834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Multi-team companies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17720" y="338328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Shared context across finance, sales, and ops. Biggest win: handoff tax removed.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138160" y="1828800"/>
            <a:ext cx="3474720" cy="3474720"/>
          </a:xfrm>
          <a:prstGeom prst="roundRect">
            <a:avLst>
              <a:gd name="adj" fmla="val 2632"/>
            </a:avLst>
          </a:prstGeom>
          <a:solidFill>
            <a:srgbClr val="EDE6DB"/>
          </a:solidFill>
          <a:ln/>
        </p:spPr>
      </p:sp>
      <p:sp>
        <p:nvSpPr>
          <p:cNvPr id="14" name="Text 12"/>
          <p:cNvSpPr/>
          <p:nvPr/>
        </p:nvSpPr>
        <p:spPr>
          <a:xfrm>
            <a:off x="8366760" y="21031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6151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8366760" y="28346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6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Multi-site orgs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66760" y="3383280"/>
            <a:ext cx="3017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A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Exception layer on existing systems. Biggest win: earlier risk detection.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A65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513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6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CLOSE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188720"/>
            <a:ext cx="109728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E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 paying the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2ECE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coordination tax.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6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~$16k+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44805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9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recoverable / year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389120" y="36576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6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~$78k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389120" y="44805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9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analyst hire avoided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38160" y="365760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6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days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8138160" y="448056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9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cash cycle target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56692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39E9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NOVA · AI business team · savings you can measure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607040" y="64465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A84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NOVA Pitch Deck — Savings Focus</dc:title>
  <dc:subject>PptxGenJS Presentation</dc:subject>
  <dc:creator>NOVA</dc:creator>
  <cp:lastModifiedBy>NOVA</cp:lastModifiedBy>
  <cp:revision>1</cp:revision>
  <dcterms:created xsi:type="dcterms:W3CDTF">2026-10-08T06:37:10Z</dcterms:created>
  <dcterms:modified xsi:type="dcterms:W3CDTF">2026-10-08T06:37:10Z</dcterms:modified>
</cp:coreProperties>
</file>